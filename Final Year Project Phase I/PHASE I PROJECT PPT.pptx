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3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39"/>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 Type="http://schemas.openxmlformats.org/officeDocument/2006/relationships/theme" Target="theme/theme1.xml"/><Relationship Id="rId13" Type="http://schemas.openxmlformats.org/officeDocument/2006/relationships/tableStyles" Target="tableStyles.xml"/><Relationship Id="rId12" Type="http://schemas.openxmlformats.org/officeDocument/2006/relationships/viewProps" Target="viewProps.xml"/><Relationship Id="rId11" Type="http://schemas.openxmlformats.org/officeDocument/2006/relationships/presProps" Target="presProps.xml"/><Relationship Id="rId10" Type="http://schemas.openxmlformats.org/officeDocument/2006/relationships/slide" Target="slides/slide8.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lstStyle/>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lstStyle/>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lstStyle/>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618960-8005-486C-9A75-10CB2AAC16F9}"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3A1C593-65D0-4073-BCC9-577B9352EA97}" type="datetimeFigureOut">
              <a:rPr lang="en-US" smtClean="0"/>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image" Target="../media/image2.jpeg"/><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3.png"/><Relationship Id="rId1" Type="http://schemas.openxmlformats.org/officeDocument/2006/relationships/image" Target="../media/image1.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4.png"/><Relationship Id="rId2" Type="http://schemas.openxmlformats.org/officeDocument/2006/relationships/image" Target="../media/image1.jpeg"/><Relationship Id="rId1" Type="http://schemas.openxmlformats.org/officeDocument/2006/relationships/tags" Target="../tags/tag1.xml"/></Relationships>
</file>

<file path=ppt/slides/_rels/slide6.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image" Target="../media/image1.jpeg"/></Relationships>
</file>

<file path=ppt/slides/_rels/slide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jpeg"/></Relationships>
</file>

<file path=ppt/slides/_rels/slide8.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9.png"/><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image" Target="../media/image1.jpe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t>a</a:t>
            </a:r>
            <a:endParaRPr lang="en-US" dirty="0"/>
          </a:p>
        </p:txBody>
      </p:sp>
      <p:sp>
        <p:nvSpPr>
          <p:cNvPr id="3" name="Subtitle 2"/>
          <p:cNvSpPr>
            <a:spLocks noGrp="1"/>
          </p:cNvSpPr>
          <p:nvPr>
            <p:ph type="subTitle" idx="1"/>
          </p:nvPr>
        </p:nvSpPr>
        <p:spPr/>
        <p:txBody>
          <a:bodyPr/>
          <a:lstStyle/>
          <a:p>
            <a:endParaRPr lang="en-US"/>
          </a:p>
        </p:txBody>
      </p:sp>
      <p:pic>
        <p:nvPicPr>
          <p:cNvPr id="5" name="Google Shape;90;p13"/>
          <p:cNvPicPr preferRelativeResize="0"/>
          <p:nvPr/>
        </p:nvPicPr>
        <p:blipFill rotWithShape="1">
          <a:blip r:embed="rId1"/>
          <a:srcRect/>
          <a:stretch>
            <a:fillRect/>
          </a:stretch>
        </p:blipFill>
        <p:spPr>
          <a:xfrm>
            <a:off x="-1" y="0"/>
            <a:ext cx="12192000" cy="6858000"/>
          </a:xfrm>
          <a:prstGeom prst="rect">
            <a:avLst/>
          </a:prstGeom>
          <a:noFill/>
          <a:ln>
            <a:noFill/>
          </a:ln>
        </p:spPr>
      </p:pic>
      <p:sp>
        <p:nvSpPr>
          <p:cNvPr id="92" name="Google Shape;92;p13"/>
          <p:cNvSpPr txBox="1"/>
          <p:nvPr/>
        </p:nvSpPr>
        <p:spPr>
          <a:xfrm>
            <a:off x="1232535" y="2140585"/>
            <a:ext cx="9925050" cy="921385"/>
          </a:xfrm>
          <a:prstGeom prst="rect">
            <a:avLst/>
          </a:prstGeom>
          <a:noFill/>
          <a:ln>
            <a:noFill/>
          </a:ln>
        </p:spPr>
        <p:txBody>
          <a:bodyPr spcFirstLastPara="1" wrap="square" lIns="91425" tIns="45700" rIns="91425" bIns="45700" anchor="t" anchorCtr="0">
            <a:noAutofit/>
          </a:bodyPr>
          <a:p>
            <a:pPr marL="0" marR="0" lvl="0" indent="0" algn="ctr" rtl="0">
              <a:spcBef>
                <a:spcPts val="0"/>
              </a:spcBef>
              <a:spcAft>
                <a:spcPts val="0"/>
              </a:spcAft>
              <a:buNone/>
            </a:pPr>
            <a:r>
              <a:rPr lang="en-US" sz="2400" b="1" i="0" u="none" strike="noStrike" cap="none">
                <a:solidFill>
                  <a:srgbClr val="1C981C"/>
                </a:solidFill>
                <a:latin typeface="Times New Roman" panose="02020603050405020304"/>
                <a:ea typeface="Times New Roman" panose="02020603050405020304"/>
                <a:cs typeface="Times New Roman" panose="02020603050405020304"/>
                <a:sym typeface="Times New Roman" panose="02020603050405020304"/>
              </a:rPr>
              <a:t>Cardiovascular Disease Prediction Using Deep Learning Techniques</a:t>
            </a:r>
            <a:endParaRPr lang="en-US" sz="2400" b="1" i="0" u="none" strike="noStrike" cap="none">
              <a:solidFill>
                <a:srgbClr val="1C981C"/>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ctr" rtl="0">
              <a:spcBef>
                <a:spcPts val="0"/>
              </a:spcBef>
              <a:spcAft>
                <a:spcPts val="0"/>
              </a:spcAft>
              <a:buNone/>
            </a:pPr>
            <a:endParaRPr sz="2400" b="1" i="0" strike="noStrike" cap="none">
              <a:solidFill>
                <a:srgbClr val="1C981C"/>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3" name="Google Shape;93;p13"/>
          <p:cNvSpPr txBox="1"/>
          <p:nvPr/>
        </p:nvSpPr>
        <p:spPr>
          <a:xfrm>
            <a:off x="864870" y="3510280"/>
            <a:ext cx="4902200" cy="2461260"/>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Clr>
                <a:srgbClr val="1E4E79"/>
              </a:buClr>
              <a:buSzPts val="2400"/>
              <a:buFont typeface="Calibri" panose="020F0502020204030204"/>
              <a:buNone/>
            </a:pPr>
            <a:r>
              <a:rPr lang="en-US" sz="2400" b="1" i="0" u="none" strike="noStrike" cap="none">
                <a:solidFill>
                  <a:srgbClr val="1E4E79"/>
                </a:solidFill>
                <a:latin typeface="Times New Roman" panose="02020603050405020304"/>
                <a:ea typeface="Times New Roman" panose="02020603050405020304"/>
                <a:cs typeface="Times New Roman" panose="02020603050405020304"/>
                <a:sym typeface="Times New Roman" panose="02020603050405020304"/>
              </a:rPr>
              <a:t>Team Members</a:t>
            </a:r>
            <a:endParaRPr sz="2000" b="1" i="0" u="none" strike="noStrike" cap="none">
              <a:solidFill>
                <a:srgbClr val="2E75B5"/>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Clr>
                <a:schemeClr val="dk1"/>
              </a:buClr>
              <a:buSzPts val="2000"/>
              <a:buFont typeface="Calibri" panose="020F0502020204030204"/>
              <a:buNone/>
            </a:pPr>
            <a:endParaRPr sz="2000" b="1" i="0" u="none" strike="noStrike" cap="none">
              <a:solidFill>
                <a:srgbClr val="2E75B5"/>
              </a:solidFill>
              <a:latin typeface="Times New Roman" panose="02020603050405020304"/>
              <a:ea typeface="Times New Roman" panose="02020603050405020304"/>
              <a:cs typeface="Times New Roman" panose="02020603050405020304"/>
              <a:sym typeface="Times New Roman" panose="02020603050405020304"/>
            </a:endParaRPr>
          </a:p>
          <a:p>
            <a:pPr marL="514350" marR="0" lvl="0" indent="-514350" algn="l" rtl="0">
              <a:spcBef>
                <a:spcPts val="0"/>
              </a:spcBef>
              <a:spcAft>
                <a:spcPts val="0"/>
              </a:spcAft>
              <a:buClr>
                <a:srgbClr val="2E75B5"/>
              </a:buClr>
              <a:buSzPts val="2000"/>
              <a:buFont typeface="Calibri" panose="020F0502020204030204"/>
              <a:buAutoNum type="arabicPeriod"/>
            </a:pPr>
            <a:r>
              <a:rPr lang="en-US" sz="2000" b="1" i="0" u="none" strike="noStrike" cap="none">
                <a:solidFill>
                  <a:srgbClr val="2E75B5"/>
                </a:solidFill>
                <a:latin typeface="Times New Roman" panose="02020603050405020304"/>
                <a:ea typeface="Times New Roman" panose="02020603050405020304"/>
                <a:cs typeface="Times New Roman" panose="02020603050405020304"/>
                <a:sym typeface="Times New Roman" panose="02020603050405020304"/>
              </a:rPr>
              <a:t>Aditya Patel (22BM004)</a:t>
            </a:r>
            <a:endParaRPr sz="2000" b="1" i="0" u="none" strike="noStrike" cap="none">
              <a:solidFill>
                <a:srgbClr val="2E75B5"/>
              </a:solidFill>
              <a:latin typeface="Times New Roman" panose="02020603050405020304"/>
              <a:ea typeface="Times New Roman" panose="02020603050405020304"/>
              <a:cs typeface="Times New Roman" panose="02020603050405020304"/>
              <a:sym typeface="Times New Roman" panose="02020603050405020304"/>
            </a:endParaRPr>
          </a:p>
          <a:p>
            <a:pPr marL="514350" marR="0" lvl="0" indent="-514350" algn="l" rtl="0">
              <a:spcBef>
                <a:spcPts val="0"/>
              </a:spcBef>
              <a:spcAft>
                <a:spcPts val="0"/>
              </a:spcAft>
              <a:buClr>
                <a:srgbClr val="2E75B5"/>
              </a:buClr>
              <a:buSzPts val="2000"/>
              <a:buFont typeface="Calibri" panose="020F0502020204030204"/>
              <a:buAutoNum type="arabicPeriod"/>
            </a:pPr>
            <a:r>
              <a:rPr lang="en-US" sz="2000" b="1" i="0" u="none" strike="noStrike" cap="none">
                <a:solidFill>
                  <a:srgbClr val="2E75B5"/>
                </a:solidFill>
                <a:latin typeface="Times New Roman" panose="02020603050405020304"/>
                <a:ea typeface="Times New Roman" panose="02020603050405020304"/>
                <a:cs typeface="Times New Roman" panose="02020603050405020304"/>
                <a:sym typeface="Times New Roman" panose="02020603050405020304"/>
              </a:rPr>
              <a:t>Mohammed Nakib Ansari (22CS089)</a:t>
            </a:r>
            <a:endParaRPr sz="2000" b="1" i="0" u="none" strike="noStrike" cap="none">
              <a:solidFill>
                <a:srgbClr val="2E75B5"/>
              </a:solidFill>
              <a:latin typeface="Times New Roman" panose="02020603050405020304"/>
              <a:ea typeface="Times New Roman" panose="02020603050405020304"/>
              <a:cs typeface="Times New Roman" panose="02020603050405020304"/>
              <a:sym typeface="Times New Roman" panose="02020603050405020304"/>
            </a:endParaRPr>
          </a:p>
          <a:p>
            <a:pPr marL="514350" marR="0" lvl="0" indent="-514350" algn="l" rtl="0">
              <a:spcBef>
                <a:spcPts val="0"/>
              </a:spcBef>
              <a:spcAft>
                <a:spcPts val="0"/>
              </a:spcAft>
              <a:buClr>
                <a:srgbClr val="2E75B5"/>
              </a:buClr>
              <a:buSzPts val="2000"/>
              <a:buFont typeface="Calibri" panose="020F0502020204030204"/>
              <a:buAutoNum type="arabicPeriod"/>
            </a:pPr>
            <a:r>
              <a:rPr lang="en-US" sz="2000" b="1" i="0" u="none" strike="noStrike" cap="none">
                <a:solidFill>
                  <a:srgbClr val="2E75B5"/>
                </a:solidFill>
                <a:latin typeface="Times New Roman" panose="02020603050405020304"/>
                <a:ea typeface="Times New Roman" panose="02020603050405020304"/>
                <a:cs typeface="Times New Roman" panose="02020603050405020304"/>
                <a:sym typeface="Times New Roman" panose="02020603050405020304"/>
              </a:rPr>
              <a:t>Rakesh Yadav (22CS130)</a:t>
            </a:r>
            <a:endParaRPr sz="2000" b="1" i="0" u="none" strike="noStrike" cap="none">
              <a:solidFill>
                <a:srgbClr val="2E75B5"/>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4" name="Google Shape;94;p13"/>
          <p:cNvSpPr txBox="1"/>
          <p:nvPr/>
        </p:nvSpPr>
        <p:spPr>
          <a:xfrm>
            <a:off x="7327900" y="3429000"/>
            <a:ext cx="4130675" cy="570230"/>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None/>
            </a:pPr>
            <a:r>
              <a:rPr lang="en-US" sz="2400" b="1" i="0" u="none" strike="noStrike" cap="none">
                <a:solidFill>
                  <a:srgbClr val="1E4E79"/>
                </a:solidFill>
                <a:latin typeface="Times New Roman" panose="02020603050405020304"/>
                <a:ea typeface="Times New Roman" panose="02020603050405020304"/>
                <a:cs typeface="Times New Roman" panose="02020603050405020304"/>
                <a:sym typeface="Times New Roman" panose="02020603050405020304"/>
              </a:rPr>
              <a:t>Batch No. : 174</a:t>
            </a:r>
            <a:r>
              <a:rPr lang="en-US" sz="2400" b="0" i="0" u="none" strike="noStrike" cap="none">
                <a:solidFill>
                  <a:srgbClr val="1E4E79"/>
                </a:solidFill>
                <a:latin typeface="Times New Roman" panose="02020603050405020304"/>
                <a:ea typeface="Times New Roman" panose="02020603050405020304"/>
                <a:cs typeface="Times New Roman" panose="02020603050405020304"/>
                <a:sym typeface="Times New Roman" panose="02020603050405020304"/>
              </a:rPr>
              <a:t> </a:t>
            </a:r>
            <a:endParaRPr sz="2400">
              <a:solidFill>
                <a:srgbClr val="1E4E79"/>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95" name="Google Shape;95;p13"/>
          <p:cNvSpPr txBox="1"/>
          <p:nvPr/>
        </p:nvSpPr>
        <p:spPr>
          <a:xfrm>
            <a:off x="7327900" y="4080510"/>
            <a:ext cx="4562475" cy="1804035"/>
          </a:xfrm>
          <a:prstGeom prst="rect">
            <a:avLst/>
          </a:prstGeom>
          <a:noFill/>
          <a:ln>
            <a:noFill/>
          </a:ln>
        </p:spPr>
        <p:txBody>
          <a:bodyPr spcFirstLastPara="1" wrap="square" lIns="91425" tIns="45700" rIns="91425" bIns="45700" anchor="t" anchorCtr="0">
            <a:noAutofit/>
          </a:bodyPr>
          <a:p>
            <a:pPr marL="0" marR="0" lvl="0" indent="0" algn="l" rtl="0">
              <a:spcBef>
                <a:spcPts val="0"/>
              </a:spcBef>
              <a:spcAft>
                <a:spcPts val="0"/>
              </a:spcAft>
              <a:buNone/>
            </a:pPr>
            <a:r>
              <a:rPr lang="en-US" sz="2400" b="1">
                <a:solidFill>
                  <a:srgbClr val="00B050"/>
                </a:solidFill>
                <a:latin typeface="Times New Roman" panose="02020603050405020304"/>
                <a:ea typeface="Times New Roman" panose="02020603050405020304"/>
                <a:cs typeface="Times New Roman" panose="02020603050405020304"/>
                <a:sym typeface="Times New Roman" panose="02020603050405020304"/>
              </a:rPr>
              <a:t>Supervisor</a:t>
            </a:r>
            <a:r>
              <a:rPr lang="en-US" sz="2400" b="1">
                <a:solidFill>
                  <a:srgbClr val="00B050"/>
                </a:solidFill>
                <a:latin typeface="Times New Roman" panose="02020603050405020304"/>
                <a:ea typeface="Times New Roman" panose="02020603050405020304"/>
                <a:cs typeface="Times New Roman" panose="02020603050405020304"/>
                <a:sym typeface="Times New Roman" panose="02020603050405020304"/>
              </a:rPr>
              <a:t> : </a:t>
            </a:r>
            <a:endParaRPr sz="2000" b="1">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400" b="1">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2400"/>
              <a:buFont typeface="Arial" panose="020B0604020202020204"/>
              <a:buNone/>
            </a:pPr>
            <a:r>
              <a:rPr lang="en-US" sz="2000" b="1" i="0" u="none" strike="noStrike" cap="none">
                <a:solidFill>
                  <a:srgbClr val="00B050"/>
                </a:solidFill>
                <a:latin typeface="Times New Roman" panose="02020603050405020304"/>
                <a:ea typeface="Times New Roman" panose="02020603050405020304"/>
                <a:cs typeface="Times New Roman" panose="02020603050405020304"/>
                <a:sym typeface="Times New Roman" panose="02020603050405020304"/>
              </a:rPr>
              <a:t>Ms. NANDHINI N</a:t>
            </a:r>
            <a:endParaRPr lang="en-US" sz="2000" b="1" i="0" u="none" strike="noStrike" cap="none">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lnSpc>
                <a:spcPct val="100000"/>
              </a:lnSpc>
              <a:spcBef>
                <a:spcPts val="0"/>
              </a:spcBef>
              <a:spcAft>
                <a:spcPts val="0"/>
              </a:spcAft>
              <a:buClr>
                <a:srgbClr val="000000"/>
              </a:buClr>
              <a:buSzPts val="2400"/>
              <a:buFont typeface="Arial" panose="020B0604020202020204"/>
              <a:buNone/>
            </a:pPr>
            <a:r>
              <a:rPr lang="en-US" sz="2000" b="1" i="0" u="none" strike="noStrike" cap="none">
                <a:solidFill>
                  <a:srgbClr val="00B050"/>
                </a:solidFill>
                <a:latin typeface="Times New Roman" panose="02020603050405020304"/>
                <a:ea typeface="Times New Roman" panose="02020603050405020304"/>
                <a:cs typeface="Times New Roman" panose="02020603050405020304"/>
                <a:sym typeface="Times New Roman" panose="02020603050405020304"/>
              </a:rPr>
              <a:t>(Associate Professor)</a:t>
            </a:r>
            <a:endParaRPr sz="2000" b="1" i="0" u="none" strike="noStrike" cap="none">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a:p>
            <a:pPr marL="0" marR="0" lvl="0" indent="0" algn="l" rtl="0">
              <a:spcBef>
                <a:spcPts val="0"/>
              </a:spcBef>
              <a:spcAft>
                <a:spcPts val="0"/>
              </a:spcAft>
              <a:buNone/>
            </a:pPr>
            <a:endParaRPr sz="2000" b="1" i="0" u="none" strike="noStrike" cap="none">
              <a:solidFill>
                <a:srgbClr val="00B050"/>
              </a:solidFill>
              <a:latin typeface="Times New Roman" panose="02020603050405020304"/>
              <a:ea typeface="Times New Roman" panose="02020603050405020304"/>
              <a:cs typeface="Times New Roman" panose="02020603050405020304"/>
              <a:sym typeface="Times New Roman" panose="02020603050405020304"/>
            </a:endParaRPr>
          </a:p>
        </p:txBody>
      </p:sp>
      <p:pic>
        <p:nvPicPr>
          <p:cNvPr id="7" name="Google Shape;91;p13" descr="C:\Users\CoE\Downloads\New Logo 2020 D.jpg"/>
          <p:cNvPicPr preferRelativeResize="0"/>
          <p:nvPr/>
        </p:nvPicPr>
        <p:blipFill rotWithShape="1">
          <a:blip r:embed="rId2"/>
          <a:srcRect l="1347" t="13178"/>
          <a:stretch>
            <a:fillRect/>
          </a:stretch>
        </p:blipFill>
        <p:spPr>
          <a:xfrm>
            <a:off x="2751137" y="271794"/>
            <a:ext cx="6689725" cy="1984162"/>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Google Shape;90;p13"/>
          <p:cNvPicPr preferRelativeResize="0"/>
          <p:nvPr/>
        </p:nvPicPr>
        <p:blipFill rotWithShape="1">
          <a:blip r:embed="rId1"/>
          <a:srcRect/>
          <a:stretch>
            <a:fillRect/>
          </a:stretch>
        </p:blipFill>
        <p:spPr>
          <a:xfrm>
            <a:off x="-1" y="0"/>
            <a:ext cx="12192000" cy="6858000"/>
          </a:xfrm>
          <a:prstGeom prst="rect">
            <a:avLst/>
          </a:prstGeom>
          <a:noFill/>
          <a:ln>
            <a:noFill/>
          </a:ln>
        </p:spPr>
      </p:pic>
      <p:sp>
        <p:nvSpPr>
          <p:cNvPr id="4" name="Text Box 3"/>
          <p:cNvSpPr txBox="1"/>
          <p:nvPr/>
        </p:nvSpPr>
        <p:spPr>
          <a:xfrm>
            <a:off x="4150995" y="767080"/>
            <a:ext cx="4064000" cy="521970"/>
          </a:xfrm>
          <a:prstGeom prst="rect">
            <a:avLst/>
          </a:prstGeom>
          <a:noFill/>
        </p:spPr>
        <p:txBody>
          <a:bodyPr wrap="square" rtlCol="0">
            <a:spAutoFit/>
          </a:bodyPr>
          <a:p>
            <a:r>
              <a:rPr lang="en-US" sz="2800" b="1">
                <a:solidFill>
                  <a:schemeClr val="accent1">
                    <a:lumMod val="50000"/>
                  </a:schemeClr>
                </a:solidFill>
                <a:latin typeface="Times New Roman" panose="02020603050405020304" charset="0"/>
                <a:cs typeface="Times New Roman" panose="02020603050405020304" charset="0"/>
              </a:rPr>
              <a:t>PROJECT OVERVIEW </a:t>
            </a:r>
            <a:endParaRPr lang="en-US" sz="2800" b="1">
              <a:solidFill>
                <a:schemeClr val="accent1">
                  <a:lumMod val="50000"/>
                </a:schemeClr>
              </a:solidFill>
              <a:latin typeface="Times New Roman" panose="02020603050405020304" charset="0"/>
              <a:cs typeface="Times New Roman" panose="02020603050405020304" charset="0"/>
            </a:endParaRPr>
          </a:p>
        </p:txBody>
      </p:sp>
      <p:sp>
        <p:nvSpPr>
          <p:cNvPr id="9" name="Rectangles 8"/>
          <p:cNvSpPr/>
          <p:nvPr/>
        </p:nvSpPr>
        <p:spPr>
          <a:xfrm>
            <a:off x="1075055" y="1690370"/>
            <a:ext cx="4419600" cy="131000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0" name="Text Box 9"/>
          <p:cNvSpPr txBox="1"/>
          <p:nvPr/>
        </p:nvSpPr>
        <p:spPr>
          <a:xfrm>
            <a:off x="1161415" y="1689735"/>
            <a:ext cx="4269740" cy="1251585"/>
          </a:xfrm>
          <a:prstGeom prst="rect">
            <a:avLst/>
          </a:prstGeom>
        </p:spPr>
        <p:txBody>
          <a:bodyPr>
            <a:noAutofit/>
          </a:bodyPr>
          <a:p>
            <a:r>
              <a:rPr lang="en-US" sz="1600" b="1"/>
              <a:t>1. </a:t>
            </a:r>
            <a:r>
              <a:rPr sz="1600" b="1"/>
              <a:t>The </a:t>
            </a:r>
            <a:r>
              <a:rPr sz="1600" b="1">
                <a:latin typeface="Times New Roman" panose="02020603050405020304" charset="0"/>
                <a:cs typeface="Times New Roman" panose="02020603050405020304" charset="0"/>
              </a:rPr>
              <a:t>Problem</a:t>
            </a:r>
            <a:r>
              <a:rPr sz="1600" b="1"/>
              <a:t>:</a:t>
            </a:r>
            <a:r>
              <a:rPr sz="1600"/>
              <a:t> </a:t>
            </a:r>
            <a:endParaRPr sz="1600"/>
          </a:p>
          <a:p>
            <a:pPr marL="285750" indent="-285750">
              <a:buFont typeface="Arial" panose="020B0604020202020204" pitchFamily="34" charset="0"/>
              <a:buChar char="•"/>
            </a:pPr>
            <a:r>
              <a:rPr lang="en-US" altLang="en-US" sz="1600">
                <a:latin typeface="Times New Roman" panose="02020603050405020304" charset="0"/>
                <a:cs typeface="Times New Roman" panose="02020603050405020304" charset="0"/>
              </a:rPr>
              <a:t>Manual interpretation of 12-lead ECGs is time-consuming, prone to human error, and often ignores critical demographic context like age and sex.</a:t>
            </a:r>
            <a:endParaRPr lang="en-US" altLang="en-US" sz="1600">
              <a:latin typeface="Times New Roman" panose="02020603050405020304" charset="0"/>
              <a:cs typeface="Times New Roman" panose="02020603050405020304" charset="0"/>
            </a:endParaRPr>
          </a:p>
        </p:txBody>
      </p:sp>
      <p:sp>
        <p:nvSpPr>
          <p:cNvPr id="13" name="Rectangles 12"/>
          <p:cNvSpPr/>
          <p:nvPr/>
        </p:nvSpPr>
        <p:spPr>
          <a:xfrm>
            <a:off x="6192520" y="1690370"/>
            <a:ext cx="4419600" cy="1310005"/>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4" name="Text Box 13"/>
          <p:cNvSpPr txBox="1"/>
          <p:nvPr/>
        </p:nvSpPr>
        <p:spPr>
          <a:xfrm>
            <a:off x="6370320" y="1690370"/>
            <a:ext cx="4064000" cy="1309370"/>
          </a:xfrm>
          <a:prstGeom prst="rect">
            <a:avLst/>
          </a:prstGeom>
          <a:noFill/>
        </p:spPr>
        <p:txBody>
          <a:bodyPr wrap="square" rtlCol="0">
            <a:noAutofit/>
          </a:bodyPr>
          <a:p>
            <a:r>
              <a:rPr lang="en-US" altLang="en-US" sz="1600" b="1">
                <a:latin typeface="Times New Roman" panose="02020603050405020304" charset="0"/>
                <a:cs typeface="Times New Roman" panose="02020603050405020304" charset="0"/>
              </a:rPr>
              <a:t>2. Our Objective:</a:t>
            </a:r>
            <a:endParaRPr lang="en-US" altLang="en-US"/>
          </a:p>
          <a:p>
            <a:pPr marL="285750" indent="-285750">
              <a:buFont typeface="Arial" panose="020B0604020202020204" pitchFamily="34" charset="0"/>
              <a:buChar char="•"/>
            </a:pPr>
            <a:r>
              <a:rPr lang="en-US" altLang="en-US" sz="1600">
                <a:latin typeface="Times New Roman" panose="02020603050405020304" charset="0"/>
                <a:cs typeface="Times New Roman" panose="02020603050405020304" charset="0"/>
              </a:rPr>
              <a:t>To develop a Hybrid Deep Learning framework that integrates raw ECG signals with demographic data for accurate, multi-label disease detection.</a:t>
            </a:r>
            <a:endParaRPr lang="en-US" altLang="en-US" sz="1600">
              <a:latin typeface="Times New Roman" panose="02020603050405020304" charset="0"/>
              <a:cs typeface="Times New Roman" panose="02020603050405020304" charset="0"/>
            </a:endParaRPr>
          </a:p>
        </p:txBody>
      </p:sp>
      <p:sp>
        <p:nvSpPr>
          <p:cNvPr id="15" name="Rectangles 14"/>
          <p:cNvSpPr/>
          <p:nvPr/>
        </p:nvSpPr>
        <p:spPr>
          <a:xfrm>
            <a:off x="1075055" y="3324860"/>
            <a:ext cx="4419600" cy="153924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6" name="Text Box 15"/>
          <p:cNvSpPr txBox="1"/>
          <p:nvPr/>
        </p:nvSpPr>
        <p:spPr>
          <a:xfrm>
            <a:off x="1264285" y="3324860"/>
            <a:ext cx="4064000" cy="1447800"/>
          </a:xfrm>
          <a:prstGeom prst="rect">
            <a:avLst/>
          </a:prstGeom>
          <a:noFill/>
        </p:spPr>
        <p:txBody>
          <a:bodyPr wrap="square" rtlCol="0">
            <a:noAutofit/>
          </a:bodyPr>
          <a:p>
            <a:r>
              <a:rPr lang="en-US" altLang="en-US" sz="1600" b="1">
                <a:latin typeface="Times New Roman" panose="02020603050405020304" charset="0"/>
                <a:cs typeface="Times New Roman" panose="02020603050405020304" charset="0"/>
              </a:rPr>
              <a:t>3. How It Works (The Website):</a:t>
            </a:r>
            <a:r>
              <a:rPr lang="en-US" altLang="en-US" sz="1600">
                <a:latin typeface="Times New Roman" panose="02020603050405020304" charset="0"/>
                <a:cs typeface="Times New Roman" panose="02020603050405020304" charset="0"/>
              </a:rPr>
              <a:t> </a:t>
            </a:r>
            <a:endParaRPr lang="en-US" altLang="en-US" sz="1600">
              <a:latin typeface="Times New Roman" panose="02020603050405020304" charset="0"/>
              <a:cs typeface="Times New Roman" panose="02020603050405020304" charset="0"/>
            </a:endParaRPr>
          </a:p>
          <a:p>
            <a:pPr marL="285750" indent="-285750">
              <a:buFont typeface="Arial" panose="020B0604020202020204" pitchFamily="34" charset="0"/>
              <a:buChar char="•"/>
            </a:pPr>
            <a:r>
              <a:rPr lang="en-US" altLang="en-US" sz="1600">
                <a:latin typeface="Times New Roman" panose="02020603050405020304" charset="0"/>
                <a:cs typeface="Times New Roman" panose="02020603050405020304" charset="0"/>
              </a:rPr>
              <a:t>The system utilizes a dual-branch neural network to fuse physiological waveform features with clinical patient data to simultaneously predict five cardiac conditions.</a:t>
            </a:r>
            <a:endParaRPr lang="en-US" altLang="en-US" sz="1600">
              <a:latin typeface="Times New Roman" panose="02020603050405020304" charset="0"/>
              <a:cs typeface="Times New Roman" panose="02020603050405020304" charset="0"/>
            </a:endParaRPr>
          </a:p>
        </p:txBody>
      </p:sp>
      <p:sp>
        <p:nvSpPr>
          <p:cNvPr id="17" name="Rectangles 16"/>
          <p:cNvSpPr/>
          <p:nvPr/>
        </p:nvSpPr>
        <p:spPr>
          <a:xfrm>
            <a:off x="6192520" y="3324860"/>
            <a:ext cx="4419600" cy="129667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8" name="Text Box 17"/>
          <p:cNvSpPr txBox="1"/>
          <p:nvPr/>
        </p:nvSpPr>
        <p:spPr>
          <a:xfrm>
            <a:off x="6304280" y="3327400"/>
            <a:ext cx="4130040" cy="1294130"/>
          </a:xfrm>
          <a:prstGeom prst="rect">
            <a:avLst/>
          </a:prstGeom>
        </p:spPr>
        <p:txBody>
          <a:bodyPr>
            <a:noAutofit/>
          </a:bodyPr>
          <a:p>
            <a:r>
              <a:rPr lang="en-US" altLang="en-US" sz="1600" b="1">
                <a:latin typeface="Times New Roman" panose="02020603050405020304" charset="0"/>
                <a:cs typeface="Times New Roman" panose="02020603050405020304" charset="0"/>
              </a:rPr>
              <a:t>4. Technology:</a:t>
            </a:r>
            <a:endParaRPr lang="en-US" altLang="en-US" sz="1600" b="1">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Utilizes 1D-Convolutional Neural Networks (1D-CNN) for signal processing, Python libraries for analysis, and Streamlit for real-time web deployment.</a:t>
            </a:r>
            <a:endParaRPr lang="en-US" altLang="en-US" sz="1600">
              <a:latin typeface="Times New Roman" panose="02020603050405020304" charset="0"/>
              <a:cs typeface="Times New Roman" panose="02020603050405020304" charset="0"/>
            </a:endParaRPr>
          </a:p>
        </p:txBody>
      </p:sp>
      <p:sp>
        <p:nvSpPr>
          <p:cNvPr id="19" name="Text Box 18"/>
          <p:cNvSpPr txBox="1"/>
          <p:nvPr/>
        </p:nvSpPr>
        <p:spPr>
          <a:xfrm>
            <a:off x="3862070" y="5024120"/>
            <a:ext cx="4269740" cy="1367155"/>
          </a:xfrm>
          <a:prstGeom prst="rect">
            <a:avLst/>
          </a:prstGeom>
        </p:spPr>
        <p:txBody>
          <a:bodyPr>
            <a:noAutofit/>
          </a:bodyPr>
          <a:p>
            <a:r>
              <a:rPr lang="en-US" sz="1600" b="1">
                <a:latin typeface="Times New Roman" panose="02020603050405020304" charset="0"/>
                <a:cs typeface="Times New Roman" panose="02020603050405020304" charset="0"/>
                <a:sym typeface="+mn-ea"/>
              </a:rPr>
              <a:t>5. </a:t>
            </a:r>
            <a:r>
              <a:rPr sz="1600" b="1">
                <a:latin typeface="Times New Roman" panose="02020603050405020304" charset="0"/>
                <a:cs typeface="Times New Roman" panose="02020603050405020304" charset="0"/>
                <a:sym typeface="+mn-ea"/>
              </a:rPr>
              <a:t>Why This Matters:</a:t>
            </a:r>
            <a:endParaRPr sz="1600" b="1">
              <a:latin typeface="Times New Roman" panose="02020603050405020304" charset="0"/>
              <a:cs typeface="Times New Roman" panose="02020603050405020304" charset="0"/>
            </a:endParaRPr>
          </a:p>
          <a:p>
            <a:pPr marL="285750" indent="-285750">
              <a:buFont typeface="Arial" panose="020B0604020202020204" pitchFamily="34" charset="0"/>
              <a:buChar char="•"/>
            </a:pPr>
            <a:r>
              <a:rPr sz="1600">
                <a:latin typeface="Times New Roman" panose="02020603050405020304" charset="0"/>
                <a:cs typeface="Times New Roman" panose="02020603050405020304" charset="0"/>
                <a:sym typeface="+mn-ea"/>
              </a:rPr>
              <a:t> </a:t>
            </a:r>
            <a:r>
              <a:rPr lang="en-US" altLang="en-US" sz="1600">
                <a:latin typeface="Times New Roman" panose="02020603050405020304" charset="0"/>
                <a:cs typeface="Times New Roman" panose="02020603050405020304" charset="0"/>
              </a:rPr>
              <a:t>It functions as a clinically aligned diagnostic aid that prioritizes high-risk cases (like Heart Attacks), ensuring timely intervention and reducing diagnostic variability.</a:t>
            </a:r>
            <a:endParaRPr lang="en-US" altLang="en-US" sz="1600">
              <a:latin typeface="Times New Roman" panose="02020603050405020304" charset="0"/>
              <a:cs typeface="Times New Roman" panose="02020603050405020304" charset="0"/>
            </a:endParaRPr>
          </a:p>
        </p:txBody>
      </p:sp>
      <p:sp>
        <p:nvSpPr>
          <p:cNvPr id="21" name="Rectangles 20"/>
          <p:cNvSpPr/>
          <p:nvPr/>
        </p:nvSpPr>
        <p:spPr>
          <a:xfrm>
            <a:off x="3785870" y="4949190"/>
            <a:ext cx="4345940" cy="136525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Google Shape;90;p13"/>
          <p:cNvPicPr preferRelativeResize="0"/>
          <p:nvPr/>
        </p:nvPicPr>
        <p:blipFill rotWithShape="1">
          <a:blip r:embed="rId1"/>
          <a:srcRect/>
          <a:stretch>
            <a:fillRect/>
          </a:stretch>
        </p:blipFill>
        <p:spPr>
          <a:xfrm>
            <a:off x="-1" y="0"/>
            <a:ext cx="12192000" cy="6858000"/>
          </a:xfrm>
          <a:prstGeom prst="rect">
            <a:avLst/>
          </a:prstGeom>
          <a:noFill/>
          <a:ln>
            <a:noFill/>
          </a:ln>
        </p:spPr>
      </p:pic>
      <p:sp>
        <p:nvSpPr>
          <p:cNvPr id="4" name="Title 3"/>
          <p:cNvSpPr>
            <a:spLocks noGrp="1"/>
          </p:cNvSpPr>
          <p:nvPr>
            <p:ph type="title"/>
          </p:nvPr>
        </p:nvSpPr>
        <p:spPr>
          <a:xfrm>
            <a:off x="4695825" y="818515"/>
            <a:ext cx="3166110" cy="727710"/>
          </a:xfrm>
        </p:spPr>
        <p:txBody>
          <a:bodyPr/>
          <a:p>
            <a:r>
              <a:rPr lang="en-US" sz="2800" b="1">
                <a:solidFill>
                  <a:schemeClr val="accent1">
                    <a:lumMod val="50000"/>
                  </a:schemeClr>
                </a:solidFill>
                <a:latin typeface="Times New Roman" panose="02020603050405020304" charset="0"/>
                <a:cs typeface="Times New Roman" panose="02020603050405020304" charset="0"/>
              </a:rPr>
              <a:t>SYSTEM DESIGN</a:t>
            </a:r>
            <a:endParaRPr lang="en-US" sz="2800" b="1">
              <a:solidFill>
                <a:schemeClr val="accent1">
                  <a:lumMod val="50000"/>
                </a:schemeClr>
              </a:solidFill>
              <a:latin typeface="Times New Roman" panose="02020603050405020304" charset="0"/>
              <a:cs typeface="Times New Roman" panose="02020603050405020304" charset="0"/>
            </a:endParaRPr>
          </a:p>
        </p:txBody>
      </p:sp>
      <p:pic>
        <p:nvPicPr>
          <p:cNvPr id="8" name="Content Placeholder 7" descr="system"/>
          <p:cNvPicPr>
            <a:picLocks noChangeAspect="1"/>
          </p:cNvPicPr>
          <p:nvPr>
            <p:ph idx="1"/>
          </p:nvPr>
        </p:nvPicPr>
        <p:blipFill>
          <a:blip r:embed="rId2"/>
          <a:stretch>
            <a:fillRect/>
          </a:stretch>
        </p:blipFill>
        <p:spPr>
          <a:xfrm>
            <a:off x="932815" y="1439545"/>
            <a:ext cx="10202545" cy="473773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Google Shape;90;p13"/>
          <p:cNvPicPr preferRelativeResize="0"/>
          <p:nvPr/>
        </p:nvPicPr>
        <p:blipFill rotWithShape="1">
          <a:blip r:embed="rId1"/>
          <a:srcRect/>
          <a:stretch>
            <a:fillRect/>
          </a:stretch>
        </p:blipFill>
        <p:spPr>
          <a:xfrm>
            <a:off x="-1" y="0"/>
            <a:ext cx="12192000" cy="6858000"/>
          </a:xfrm>
          <a:prstGeom prst="rect">
            <a:avLst/>
          </a:prstGeom>
          <a:noFill/>
          <a:ln>
            <a:noFill/>
          </a:ln>
        </p:spPr>
      </p:pic>
      <p:sp>
        <p:nvSpPr>
          <p:cNvPr id="2" name="Title 1"/>
          <p:cNvSpPr>
            <a:spLocks noGrp="1"/>
          </p:cNvSpPr>
          <p:nvPr>
            <p:ph type="title"/>
          </p:nvPr>
        </p:nvSpPr>
        <p:spPr>
          <a:xfrm>
            <a:off x="4305300" y="654685"/>
            <a:ext cx="3581400" cy="757555"/>
          </a:xfrm>
        </p:spPr>
        <p:txBody>
          <a:bodyPr/>
          <a:p>
            <a:r>
              <a:rPr lang="en-US" sz="2800" b="1">
                <a:solidFill>
                  <a:schemeClr val="accent1">
                    <a:lumMod val="50000"/>
                  </a:schemeClr>
                </a:solidFill>
                <a:latin typeface="Times New Roman" panose="02020603050405020304" charset="0"/>
                <a:cs typeface="Times New Roman" panose="02020603050405020304" charset="0"/>
              </a:rPr>
              <a:t>IMPLEMENTATION</a:t>
            </a:r>
            <a:endParaRPr lang="en-US" sz="2800" b="1">
              <a:solidFill>
                <a:schemeClr val="accent1">
                  <a:lumMod val="50000"/>
                </a:schemeClr>
              </a:solidFill>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24865" y="1527175"/>
            <a:ext cx="4388485" cy="2097405"/>
          </a:xfrm>
        </p:spPr>
        <p:txBody>
          <a:bodyPr/>
          <a:p>
            <a:pPr marL="0" indent="0">
              <a:buNone/>
            </a:pPr>
            <a:r>
              <a:rPr lang="en-US" altLang="en-US" sz="1600" b="1">
                <a:latin typeface="Times New Roman" panose="02020603050405020304" charset="0"/>
                <a:cs typeface="Times New Roman" panose="02020603050405020304" charset="0"/>
              </a:rPr>
              <a:t>1. Primary Language:</a:t>
            </a:r>
            <a:endParaRPr lang="en-US" altLang="en-US" sz="1600" b="1">
              <a:latin typeface="Times New Roman" panose="02020603050405020304" charset="0"/>
              <a:cs typeface="Times New Roman" panose="02020603050405020304" charset="0"/>
            </a:endParaRPr>
          </a:p>
          <a:p>
            <a:pPr marL="0" indent="0">
              <a:buNone/>
            </a:pPr>
            <a:r>
              <a:rPr lang="en-US" altLang="en-US" sz="1600">
                <a:latin typeface="Times New Roman" panose="02020603050405020304" charset="0"/>
                <a:cs typeface="Times New Roman" panose="02020603050405020304" charset="0"/>
              </a:rPr>
              <a:t>Python: The core programming language used for data processing and deep learning.</a:t>
            </a:r>
            <a:endParaRPr lang="en-US" altLang="en-US" sz="1600">
              <a:latin typeface="Times New Roman" panose="02020603050405020304" charset="0"/>
              <a:cs typeface="Times New Roman" panose="02020603050405020304" charset="0"/>
            </a:endParaRPr>
          </a:p>
        </p:txBody>
      </p:sp>
      <p:sp>
        <p:nvSpPr>
          <p:cNvPr id="6" name="Rectangles 5"/>
          <p:cNvSpPr/>
          <p:nvPr/>
        </p:nvSpPr>
        <p:spPr>
          <a:xfrm>
            <a:off x="824230" y="1526540"/>
            <a:ext cx="4389120" cy="211455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7" name="Rectangles 6"/>
          <p:cNvSpPr/>
          <p:nvPr/>
        </p:nvSpPr>
        <p:spPr>
          <a:xfrm>
            <a:off x="824230" y="3873500"/>
            <a:ext cx="4389755" cy="222504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8" name="Text Box 7"/>
          <p:cNvSpPr txBox="1"/>
          <p:nvPr/>
        </p:nvSpPr>
        <p:spPr>
          <a:xfrm>
            <a:off x="6523990" y="1412240"/>
            <a:ext cx="4389120" cy="2212340"/>
          </a:xfrm>
          <a:prstGeom prst="rect">
            <a:avLst/>
          </a:prstGeom>
        </p:spPr>
        <p:txBody>
          <a:bodyPr>
            <a:noAutofit/>
          </a:bodyPr>
          <a:p>
            <a:r>
              <a:rPr lang="en-US" sz="1600" b="1">
                <a:latin typeface="Times New Roman" panose="02020603050405020304" charset="0"/>
                <a:cs typeface="Times New Roman" panose="02020603050405020304" charset="0"/>
              </a:rPr>
              <a:t>2. </a:t>
            </a:r>
            <a:r>
              <a:rPr sz="1600" b="1">
                <a:latin typeface="Times New Roman" panose="02020603050405020304" charset="0"/>
                <a:cs typeface="Times New Roman" panose="02020603050405020304" charset="0"/>
              </a:rPr>
              <a:t>Model Building:</a:t>
            </a:r>
            <a:endParaRPr sz="1600" b="1">
              <a:latin typeface="Times New Roman" panose="02020603050405020304" charset="0"/>
              <a:cs typeface="Times New Roman" panose="02020603050405020304" charset="0"/>
            </a:endParaRPr>
          </a:p>
          <a:p>
            <a:endParaRPr sz="1600" b="1">
              <a:latin typeface="Times New Roman" panose="02020603050405020304" charset="0"/>
              <a:cs typeface="Times New Roman" panose="02020603050405020304" charset="0"/>
            </a:endParaRPr>
          </a:p>
          <a:p>
            <a:pPr marL="285750" indent="-285750" algn="just">
              <a:buFont typeface="Arial" panose="020B0604020202020204" pitchFamily="34" charset="0"/>
              <a:buChar char="•"/>
            </a:pPr>
            <a:r>
              <a:rPr lang="en-US" altLang="en-US" sz="1600">
                <a:latin typeface="Times New Roman" panose="02020603050405020304" charset="0"/>
                <a:cs typeface="Times New Roman" panose="02020603050405020304" charset="0"/>
              </a:rPr>
              <a:t>TensorFlow/Keras powered the Hybrid 1D-CNN model training, while WFDB handled raw ECG file parsing. NumPy and Pandas managed signal processing and clinical data, and Scikitlearn was used for dataset splitting and key evaluation metrics like F1-score and Precision.</a:t>
            </a:r>
            <a:endParaRPr lang="en-US" altLang="en-US" sz="1600">
              <a:latin typeface="Times New Roman" panose="02020603050405020304" charset="0"/>
              <a:cs typeface="Times New Roman" panose="02020603050405020304" charset="0"/>
            </a:endParaRPr>
          </a:p>
        </p:txBody>
      </p:sp>
      <p:sp>
        <p:nvSpPr>
          <p:cNvPr id="9" name="Rectangles 8"/>
          <p:cNvSpPr/>
          <p:nvPr/>
        </p:nvSpPr>
        <p:spPr>
          <a:xfrm>
            <a:off x="6523355" y="1412240"/>
            <a:ext cx="4389755" cy="222885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0" name="Text Box 9"/>
          <p:cNvSpPr txBox="1"/>
          <p:nvPr/>
        </p:nvSpPr>
        <p:spPr>
          <a:xfrm>
            <a:off x="824230" y="3872865"/>
            <a:ext cx="4474845" cy="2165985"/>
          </a:xfrm>
          <a:prstGeom prst="rect">
            <a:avLst/>
          </a:prstGeom>
        </p:spPr>
        <p:txBody>
          <a:bodyPr>
            <a:noAutofit/>
          </a:bodyPr>
          <a:p>
            <a:r>
              <a:rPr lang="en-US" sz="1600" b="1">
                <a:latin typeface="Times New Roman" panose="02020603050405020304" charset="0"/>
                <a:cs typeface="Times New Roman" panose="02020603050405020304" charset="0"/>
              </a:rPr>
              <a:t>3. </a:t>
            </a:r>
            <a:r>
              <a:rPr sz="1600" b="1">
                <a:latin typeface="Times New Roman" panose="02020603050405020304" charset="0"/>
                <a:cs typeface="Times New Roman" panose="02020603050405020304" charset="0"/>
              </a:rPr>
              <a:t>Web Application:</a:t>
            </a:r>
            <a:endParaRPr sz="1600" b="1">
              <a:latin typeface="Times New Roman" panose="02020603050405020304" charset="0"/>
              <a:cs typeface="Times New Roman" panose="02020603050405020304" charset="0"/>
            </a:endParaRPr>
          </a:p>
          <a:p>
            <a:endParaRPr sz="1600" b="1">
              <a:latin typeface="Times New Roman" panose="02020603050405020304" charset="0"/>
              <a:cs typeface="Times New Roman" panose="02020603050405020304" charset="0"/>
            </a:endParaRPr>
          </a:p>
          <a:p>
            <a:pPr>
              <a:buFont typeface="Arial" panose="020B0604020202020204"/>
              <a:buChar char="•"/>
            </a:pPr>
            <a:r>
              <a:rPr lang="en-US" altLang="en-US" sz="1600">
                <a:latin typeface="Times New Roman" panose="02020603050405020304" charset="0"/>
                <a:cs typeface="Times New Roman" panose="02020603050405020304" charset="0"/>
              </a:rPr>
              <a:t>Streamlit: The framework used to deploy the model as a user-friendly clinical dashboard.</a:t>
            </a:r>
            <a:endParaRPr lang="en-US" altLang="en-US" sz="1600">
              <a:latin typeface="Times New Roman" panose="02020603050405020304" charset="0"/>
              <a:cs typeface="Times New Roman" panose="02020603050405020304" charset="0"/>
            </a:endParaRPr>
          </a:p>
          <a:p>
            <a:pPr>
              <a:buFont typeface="Arial" panose="020B0604020202020204"/>
              <a:buChar char="•"/>
            </a:pPr>
            <a:r>
              <a:rPr lang="en-US" altLang="en-US" sz="1600">
                <a:latin typeface="Times New Roman" panose="02020603050405020304" charset="0"/>
                <a:cs typeface="Times New Roman" panose="02020603050405020304" charset="0"/>
              </a:rPr>
              <a:t>Matplotlib: Used to generate dynamic visualizations of the 12-lead ECG waveforms.</a:t>
            </a:r>
            <a:endParaRPr lang="en-US" altLang="en-US" sz="1600">
              <a:latin typeface="Times New Roman" panose="02020603050405020304" charset="0"/>
              <a:cs typeface="Times New Roman" panose="02020603050405020304" charset="0"/>
            </a:endParaRPr>
          </a:p>
          <a:p>
            <a:pPr>
              <a:buFont typeface="Arial" panose="020B0604020202020204"/>
              <a:buChar char="•"/>
            </a:pPr>
            <a:r>
              <a:rPr lang="en-US" altLang="en-US" sz="1600">
                <a:latin typeface="Times New Roman" panose="02020603050405020304" charset="0"/>
                <a:cs typeface="Times New Roman" panose="02020603050405020304" charset="0"/>
              </a:rPr>
              <a:t>Regex: Implemented to automatically extract patient Age and Sex from unstructured header files.</a:t>
            </a:r>
            <a:endParaRPr lang="en-US" altLang="en-US" sz="1600">
              <a:latin typeface="Times New Roman" panose="02020603050405020304" charset="0"/>
              <a:cs typeface="Times New Roman" panose="02020603050405020304" charset="0"/>
            </a:endParaRPr>
          </a:p>
        </p:txBody>
      </p:sp>
      <p:sp>
        <p:nvSpPr>
          <p:cNvPr id="11" name="Rectangles 10"/>
          <p:cNvSpPr/>
          <p:nvPr/>
        </p:nvSpPr>
        <p:spPr>
          <a:xfrm>
            <a:off x="6523355" y="3872230"/>
            <a:ext cx="4389755" cy="2089150"/>
          </a:xfrm>
          <a:prstGeom prst="rect">
            <a:avLst/>
          </a:prstGeom>
        </p:spPr>
        <p:style>
          <a:lnRef idx="2">
            <a:schemeClr val="accent1"/>
          </a:lnRef>
          <a:fillRef idx="0">
            <a:srgbClr val="FFFFFF"/>
          </a:fillRef>
          <a:effectRef idx="0">
            <a:srgbClr val="FFFFFF"/>
          </a:effectRef>
          <a:fontRef idx="minor">
            <a:schemeClr val="tx1"/>
          </a:fontRef>
        </p:style>
        <p:txBody>
          <a:bodyPr rtlCol="0" anchor="ctr"/>
          <a:p>
            <a:pPr algn="ctr"/>
            <a:endParaRPr lang="en-US"/>
          </a:p>
        </p:txBody>
      </p:sp>
      <p:sp>
        <p:nvSpPr>
          <p:cNvPr id="12" name="Text Box 11"/>
          <p:cNvSpPr txBox="1"/>
          <p:nvPr/>
        </p:nvSpPr>
        <p:spPr>
          <a:xfrm>
            <a:off x="6523990" y="3872865"/>
            <a:ext cx="4389120" cy="2088515"/>
          </a:xfrm>
          <a:prstGeom prst="rect">
            <a:avLst/>
          </a:prstGeom>
        </p:spPr>
        <p:txBody>
          <a:bodyPr>
            <a:noAutofit/>
          </a:bodyPr>
          <a:p>
            <a:r>
              <a:rPr lang="en-US" sz="1600" b="1">
                <a:latin typeface="Times New Roman" panose="02020603050405020304" charset="0"/>
                <a:cs typeface="Times New Roman" panose="02020603050405020304" charset="0"/>
              </a:rPr>
              <a:t>4. </a:t>
            </a:r>
            <a:r>
              <a:rPr sz="1600" b="1">
                <a:latin typeface="Times New Roman" panose="02020603050405020304" charset="0"/>
                <a:cs typeface="Times New Roman" panose="02020603050405020304" charset="0"/>
              </a:rPr>
              <a:t>Development Tools:</a:t>
            </a:r>
            <a:endParaRPr sz="1600" b="1">
              <a:latin typeface="Times New Roman" panose="02020603050405020304" charset="0"/>
              <a:cs typeface="Times New Roman" panose="02020603050405020304" charset="0"/>
            </a:endParaRPr>
          </a:p>
          <a:p>
            <a:endParaRPr sz="1600" b="1">
              <a:latin typeface="Times New Roman" panose="02020603050405020304" charset="0"/>
              <a:cs typeface="Times New Roman" panose="02020603050405020304" charset="0"/>
            </a:endParaRPr>
          </a:p>
          <a:p>
            <a:pPr>
              <a:buFont typeface="Arial" panose="020B0604020202020204"/>
              <a:buChar char="•"/>
            </a:pPr>
            <a:r>
              <a:rPr lang="en-US" altLang="en-US" sz="1600">
                <a:latin typeface="Times New Roman" panose="02020603050405020304" charset="0"/>
                <a:cs typeface="Times New Roman" panose="02020603050405020304" charset="0"/>
              </a:rPr>
              <a:t> Google Colab: Used for leveraging GPU                   acceleration during model training.</a:t>
            </a:r>
            <a:endParaRPr lang="en-US" altLang="en-US" sz="1600">
              <a:latin typeface="Times New Roman" panose="02020603050405020304" charset="0"/>
              <a:cs typeface="Times New Roman" panose="02020603050405020304" charset="0"/>
            </a:endParaRPr>
          </a:p>
          <a:p>
            <a:pPr indent="0">
              <a:buFont typeface="Arial" panose="020B0604020202020204"/>
              <a:buNone/>
            </a:pP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10" name="Content Placeholder 9"/>
          <p:cNvGraphicFramePr/>
          <p:nvPr>
            <p:ph idx="1"/>
            <p:custDataLst>
              <p:tags r:id="rId1"/>
            </p:custDataLst>
          </p:nvPr>
        </p:nvGraphicFramePr>
        <p:xfrm>
          <a:off x="838200" y="1825625"/>
          <a:ext cx="10515600" cy="4094480"/>
        </p:xfrm>
        <a:graphic>
          <a:graphicData uri="http://schemas.openxmlformats.org/drawingml/2006/table">
            <a:tbl>
              <a:tblPr firstRow="1" bandRow="1">
                <a:tableStyleId>{5C22544A-7EE6-4342-B048-85BDC9FD1C3A}</a:tableStyleId>
              </a:tblPr>
              <a:tblGrid>
                <a:gridCol w="10515600"/>
              </a:tblGrid>
              <a:tr h="4094480">
                <a:tc>
                  <a:txBody>
                    <a:bodyPr/>
                    <a:p>
                      <a:pPr>
                        <a:buNone/>
                      </a:pPr>
                      <a:endParaRPr lang="en-US"/>
                    </a:p>
                  </a:txBody>
                  <a:tcPr/>
                </a:tc>
              </a:tr>
            </a:tbl>
          </a:graphicData>
        </a:graphic>
      </p:graphicFrame>
      <p:pic>
        <p:nvPicPr>
          <p:cNvPr id="5" name="Google Shape;90;p13"/>
          <p:cNvPicPr preferRelativeResize="0"/>
          <p:nvPr/>
        </p:nvPicPr>
        <p:blipFill rotWithShape="1">
          <a:blip r:embed="rId2"/>
          <a:srcRect/>
          <a:stretch>
            <a:fillRect/>
          </a:stretch>
        </p:blipFill>
        <p:spPr>
          <a:xfrm>
            <a:off x="-1" y="0"/>
            <a:ext cx="12192000" cy="6858000"/>
          </a:xfrm>
          <a:prstGeom prst="rect">
            <a:avLst/>
          </a:prstGeom>
          <a:noFill/>
          <a:ln>
            <a:noFill/>
          </a:ln>
        </p:spPr>
      </p:pic>
      <p:sp>
        <p:nvSpPr>
          <p:cNvPr id="2" name="Title 1"/>
          <p:cNvSpPr>
            <a:spLocks noGrp="1"/>
          </p:cNvSpPr>
          <p:nvPr>
            <p:ph type="title"/>
          </p:nvPr>
        </p:nvSpPr>
        <p:spPr>
          <a:xfrm>
            <a:off x="3586480" y="893445"/>
            <a:ext cx="5018405" cy="662305"/>
          </a:xfrm>
        </p:spPr>
        <p:txBody>
          <a:bodyPr>
            <a:normAutofit/>
          </a:bodyPr>
          <a:p>
            <a:r>
              <a:rPr lang="en-US" sz="3110" b="1">
                <a:solidFill>
                  <a:schemeClr val="accent1">
                    <a:lumMod val="50000"/>
                  </a:schemeClr>
                </a:solidFill>
                <a:latin typeface="Times New Roman" panose="02020603050405020304" charset="0"/>
                <a:cs typeface="Times New Roman" panose="02020603050405020304" charset="0"/>
              </a:rPr>
              <a:t>RESULT WITH ANALYSIS</a:t>
            </a:r>
            <a:endParaRPr lang="en-US" sz="3110" b="1">
              <a:solidFill>
                <a:schemeClr val="accent1">
                  <a:lumMod val="50000"/>
                </a:schemeClr>
              </a:solidFill>
              <a:latin typeface="Times New Roman" panose="02020603050405020304" charset="0"/>
              <a:cs typeface="Times New Roman" panose="02020603050405020304" charset="0"/>
            </a:endParaRPr>
          </a:p>
        </p:txBody>
      </p:sp>
      <p:pic>
        <p:nvPicPr>
          <p:cNvPr id="11" name="Content Placeholder 3" descr="single prediction"/>
          <p:cNvPicPr>
            <a:picLocks noChangeAspect="1"/>
          </p:cNvPicPr>
          <p:nvPr/>
        </p:nvPicPr>
        <p:blipFill>
          <a:blip r:embed="rId3"/>
          <a:stretch>
            <a:fillRect/>
          </a:stretch>
        </p:blipFill>
        <p:spPr>
          <a:xfrm>
            <a:off x="838200" y="1825625"/>
            <a:ext cx="10249535" cy="43561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Google Shape;90;p13"/>
          <p:cNvPicPr preferRelativeResize="0"/>
          <p:nvPr/>
        </p:nvPicPr>
        <p:blipFill rotWithShape="1">
          <a:blip r:embed="rId1"/>
          <a:srcRect/>
          <a:stretch>
            <a:fillRect/>
          </a:stretch>
        </p:blipFill>
        <p:spPr>
          <a:xfrm>
            <a:off x="-1" y="0"/>
            <a:ext cx="12192000" cy="6858000"/>
          </a:xfrm>
          <a:prstGeom prst="rect">
            <a:avLst/>
          </a:prstGeom>
          <a:noFill/>
          <a:ln>
            <a:noFill/>
          </a:ln>
        </p:spPr>
      </p:pic>
      <p:pic>
        <p:nvPicPr>
          <p:cNvPr id="3" name="Picture 2" descr="Bulk prediction"/>
          <p:cNvPicPr>
            <a:picLocks noChangeAspect="1"/>
          </p:cNvPicPr>
          <p:nvPr/>
        </p:nvPicPr>
        <p:blipFill>
          <a:blip r:embed="rId2"/>
          <a:stretch>
            <a:fillRect/>
          </a:stretch>
        </p:blipFill>
        <p:spPr>
          <a:xfrm>
            <a:off x="1513205" y="695960"/>
            <a:ext cx="8543290" cy="2839720"/>
          </a:xfrm>
          <a:prstGeom prst="rect">
            <a:avLst/>
          </a:prstGeom>
        </p:spPr>
      </p:pic>
      <p:pic>
        <p:nvPicPr>
          <p:cNvPr id="4" name="Picture 3" descr="Bulk prediction batch summary"/>
          <p:cNvPicPr>
            <a:picLocks noChangeAspect="1"/>
          </p:cNvPicPr>
          <p:nvPr/>
        </p:nvPicPr>
        <p:blipFill>
          <a:blip r:embed="rId3"/>
          <a:stretch>
            <a:fillRect/>
          </a:stretch>
        </p:blipFill>
        <p:spPr>
          <a:xfrm>
            <a:off x="1513205" y="3535680"/>
            <a:ext cx="8543290" cy="26663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Google Shape;90;p13"/>
          <p:cNvPicPr preferRelativeResize="0"/>
          <p:nvPr/>
        </p:nvPicPr>
        <p:blipFill rotWithShape="1">
          <a:blip r:embed="rId1"/>
          <a:srcRect/>
          <a:stretch>
            <a:fillRect/>
          </a:stretch>
        </p:blipFill>
        <p:spPr>
          <a:xfrm>
            <a:off x="-1" y="0"/>
            <a:ext cx="12192000" cy="6858000"/>
          </a:xfrm>
          <a:prstGeom prst="rect">
            <a:avLst/>
          </a:prstGeom>
          <a:noFill/>
          <a:ln>
            <a:noFill/>
          </a:ln>
        </p:spPr>
      </p:pic>
      <p:sp>
        <p:nvSpPr>
          <p:cNvPr id="2" name="Title 1"/>
          <p:cNvSpPr>
            <a:spLocks noGrp="1"/>
          </p:cNvSpPr>
          <p:nvPr>
            <p:ph type="title"/>
          </p:nvPr>
        </p:nvSpPr>
        <p:spPr>
          <a:xfrm>
            <a:off x="4793615" y="803275"/>
            <a:ext cx="2605405" cy="439420"/>
          </a:xfrm>
        </p:spPr>
        <p:txBody>
          <a:bodyPr>
            <a:normAutofit fontScale="90000"/>
          </a:bodyPr>
          <a:p>
            <a:r>
              <a:rPr lang="en-US" sz="2800" b="1">
                <a:solidFill>
                  <a:schemeClr val="accent1">
                    <a:lumMod val="50000"/>
                  </a:schemeClr>
                </a:solidFill>
                <a:latin typeface="Times New Roman" panose="02020603050405020304" charset="0"/>
                <a:cs typeface="Times New Roman" panose="02020603050405020304" charset="0"/>
              </a:rPr>
              <a:t>APPLICATIONS</a:t>
            </a:r>
            <a:endParaRPr lang="en-US" sz="2800" b="1">
              <a:solidFill>
                <a:schemeClr val="accent1">
                  <a:lumMod val="50000"/>
                </a:schemeClr>
              </a:solidFill>
              <a:latin typeface="Times New Roman" panose="02020603050405020304" charset="0"/>
              <a:cs typeface="Times New Roman" panose="02020603050405020304" charset="0"/>
            </a:endParaRPr>
          </a:p>
        </p:txBody>
      </p:sp>
      <p:sp>
        <p:nvSpPr>
          <p:cNvPr id="3" name="Content Placeholder 2"/>
          <p:cNvSpPr>
            <a:spLocks noGrp="1"/>
          </p:cNvSpPr>
          <p:nvPr>
            <p:ph idx="1"/>
          </p:nvPr>
        </p:nvSpPr>
        <p:spPr>
          <a:xfrm>
            <a:off x="887095" y="2105025"/>
            <a:ext cx="10419080" cy="3454400"/>
          </a:xfrm>
        </p:spPr>
        <p:txBody>
          <a:bodyPr>
            <a:noAutofit/>
          </a:bodyPr>
          <a:p>
            <a:pPr marL="342900" indent="-342900" algn="just">
              <a:buAutoNum type="arabicPeriod"/>
            </a:pPr>
            <a:r>
              <a:rPr lang="en-US" altLang="en-US" sz="1600" b="1">
                <a:latin typeface="Times New Roman" panose="02020603050405020304" charset="0"/>
                <a:cs typeface="Times New Roman" panose="02020603050405020304" charset="0"/>
              </a:rPr>
              <a:t>Clinical Decision Support:</a:t>
            </a:r>
            <a:r>
              <a:rPr lang="en-US" altLang="en-US" sz="1600">
                <a:latin typeface="Times New Roman" panose="02020603050405020304" charset="0"/>
                <a:cs typeface="Times New Roman" panose="02020603050405020304" charset="0"/>
              </a:rPr>
              <a:t> Acts as an automated "second opinion" for cardiologists to reduce diagnostic errors and fatigue.</a:t>
            </a:r>
            <a:endParaRPr lang="en-US" altLang="en-US" sz="1600">
              <a:latin typeface="Times New Roman" panose="02020603050405020304" charset="0"/>
              <a:cs typeface="Times New Roman" panose="02020603050405020304" charset="0"/>
            </a:endParaRPr>
          </a:p>
          <a:p>
            <a:pPr marL="342900" indent="-342900" algn="just">
              <a:buAutoNum type="arabicPeriod"/>
            </a:pPr>
            <a:r>
              <a:rPr lang="en-US" altLang="en-US" sz="1600" b="1">
                <a:latin typeface="Times New Roman" panose="02020603050405020304" charset="0"/>
                <a:cs typeface="Times New Roman" panose="02020603050405020304" charset="0"/>
              </a:rPr>
              <a:t> Emergency Triage: </a:t>
            </a:r>
            <a:r>
              <a:rPr lang="en-US" altLang="en-US" sz="1600">
                <a:latin typeface="Times New Roman" panose="02020603050405020304" charset="0"/>
                <a:cs typeface="Times New Roman" panose="02020603050405020304" charset="0"/>
              </a:rPr>
              <a:t>Instantly flags high-risk cases like Myocardial Infarction (Heart Attack) so doctors can treat critical patients first.</a:t>
            </a:r>
            <a:endParaRPr lang="en-US" altLang="en-US" sz="1600">
              <a:latin typeface="Times New Roman" panose="02020603050405020304" charset="0"/>
              <a:cs typeface="Times New Roman" panose="02020603050405020304" charset="0"/>
            </a:endParaRPr>
          </a:p>
          <a:p>
            <a:pPr marL="342900" indent="-342900" algn="just">
              <a:buAutoNum type="arabicPeriod"/>
            </a:pPr>
            <a:r>
              <a:rPr lang="en-US" altLang="en-US" sz="1600" b="1">
                <a:latin typeface="Times New Roman" panose="02020603050405020304" charset="0"/>
                <a:cs typeface="Times New Roman" panose="02020603050405020304" charset="0"/>
              </a:rPr>
              <a:t> </a:t>
            </a:r>
            <a:r>
              <a:rPr lang="en-US" altLang="en-US" sz="1600" b="1">
                <a:latin typeface="Times New Roman" panose="02020603050405020304" charset="0"/>
                <a:cs typeface="Times New Roman" panose="02020603050405020304" charset="0"/>
              </a:rPr>
              <a:t>Mass Screening:</a:t>
            </a:r>
            <a:r>
              <a:rPr lang="en-US" altLang="en-US" sz="1600">
                <a:latin typeface="Times New Roman" panose="02020603050405020304" charset="0"/>
                <a:cs typeface="Times New Roman" panose="02020603050405020304" charset="0"/>
              </a:rPr>
              <a:t> Uses "Bulk Mode" to process hundreds of hospital ECG records in minutes for efficient preventive health checks.</a:t>
            </a:r>
            <a:endParaRPr lang="en-US" altLang="en-US" sz="1600">
              <a:latin typeface="Times New Roman" panose="02020603050405020304" charset="0"/>
              <a:cs typeface="Times New Roman" panose="02020603050405020304" charset="0"/>
            </a:endParaRPr>
          </a:p>
          <a:p>
            <a:pPr marL="342900" indent="-342900" algn="just">
              <a:buAutoNum type="arabicPeriod"/>
            </a:pPr>
            <a:r>
              <a:rPr lang="en-US" altLang="en-US" sz="1600" b="1">
                <a:latin typeface="Times New Roman" panose="02020603050405020304" charset="0"/>
                <a:cs typeface="Times New Roman" panose="02020603050405020304" charset="0"/>
              </a:rPr>
              <a:t>Rural Healthcare:</a:t>
            </a:r>
            <a:r>
              <a:rPr lang="en-US" altLang="en-US" sz="1600">
                <a:latin typeface="Times New Roman" panose="02020603050405020304" charset="0"/>
                <a:cs typeface="Times New Roman" panose="02020603050405020304" charset="0"/>
              </a:rPr>
              <a:t> Provides expert-level ECG analysis to clinics in remote areas where specialized cardiologists are not available.</a:t>
            </a:r>
            <a:endParaRPr lang="en-US" altLang="en-US" sz="1600">
              <a:latin typeface="Times New Roman" panose="02020603050405020304" charset="0"/>
              <a:cs typeface="Times New Roman" panose="02020603050405020304" charset="0"/>
            </a:endParaRPr>
          </a:p>
          <a:p>
            <a:pPr marL="342900" indent="-342900" algn="just">
              <a:buAutoNum type="arabicPeriod"/>
            </a:pPr>
            <a:r>
              <a:rPr lang="en-US" altLang="en-US" sz="1600" b="1">
                <a:latin typeface="Times New Roman" panose="02020603050405020304" charset="0"/>
                <a:cs typeface="Times New Roman" panose="02020603050405020304" charset="0"/>
              </a:rPr>
              <a:t>Tele-Cardiology:</a:t>
            </a:r>
            <a:r>
              <a:rPr lang="en-US" altLang="en-US" sz="1600">
                <a:latin typeface="Times New Roman" panose="02020603050405020304" charset="0"/>
                <a:cs typeface="Times New Roman" panose="02020603050405020304" charset="0"/>
              </a:rPr>
              <a:t> Enables general practitioners to upload patient data and get instant, AI-verified risk assessments without sending the patient to a city hospital.</a:t>
            </a:r>
            <a:endParaRPr lang="en-US" altLang="en-US" sz="1600">
              <a:latin typeface="Times New Roman" panose="02020603050405020304" charset="0"/>
              <a:cs typeface="Times New Roman" panose="0202060305040502030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5" name="Google Shape;90;p13"/>
          <p:cNvPicPr preferRelativeResize="0"/>
          <p:nvPr/>
        </p:nvPicPr>
        <p:blipFill rotWithShape="1">
          <a:blip r:embed="rId1"/>
          <a:srcRect/>
          <a:stretch>
            <a:fillRect/>
          </a:stretch>
        </p:blipFill>
        <p:spPr>
          <a:xfrm>
            <a:off x="-1" y="0"/>
            <a:ext cx="12192000" cy="6858000"/>
          </a:xfrm>
          <a:prstGeom prst="rect">
            <a:avLst/>
          </a:prstGeom>
          <a:noFill/>
          <a:ln>
            <a:noFill/>
          </a:ln>
        </p:spPr>
      </p:pic>
      <p:sp>
        <p:nvSpPr>
          <p:cNvPr id="2" name="Title 1"/>
          <p:cNvSpPr>
            <a:spLocks noGrp="1"/>
          </p:cNvSpPr>
          <p:nvPr>
            <p:ph type="title"/>
          </p:nvPr>
        </p:nvSpPr>
        <p:spPr>
          <a:xfrm>
            <a:off x="5009515" y="528320"/>
            <a:ext cx="2173605" cy="498475"/>
          </a:xfrm>
        </p:spPr>
        <p:txBody>
          <a:bodyPr>
            <a:normAutofit fontScale="90000"/>
          </a:bodyPr>
          <a:p>
            <a:r>
              <a:rPr lang="en-US" sz="2800" b="1">
                <a:solidFill>
                  <a:schemeClr val="accent1">
                    <a:lumMod val="50000"/>
                  </a:schemeClr>
                </a:solidFill>
                <a:latin typeface="Times New Roman" panose="02020603050405020304" charset="0"/>
                <a:cs typeface="Times New Roman" panose="02020603050405020304" charset="0"/>
              </a:rPr>
              <a:t>SDG IMPACT </a:t>
            </a:r>
            <a:endParaRPr lang="en-US" sz="2800" b="1">
              <a:solidFill>
                <a:schemeClr val="accent1">
                  <a:lumMod val="50000"/>
                </a:schemeClr>
              </a:solidFill>
              <a:latin typeface="Times New Roman" panose="02020603050405020304" charset="0"/>
              <a:cs typeface="Times New Roman" panose="02020603050405020304" charset="0"/>
            </a:endParaRPr>
          </a:p>
        </p:txBody>
      </p:sp>
      <p:pic>
        <p:nvPicPr>
          <p:cNvPr id="4" name="Content Placeholder 3" descr="E-Inverted-Icons_WEB-10-1024x1024"/>
          <p:cNvPicPr>
            <a:picLocks noChangeAspect="1"/>
          </p:cNvPicPr>
          <p:nvPr>
            <p:ph idx="1"/>
          </p:nvPr>
        </p:nvPicPr>
        <p:blipFill>
          <a:blip r:embed="rId2"/>
          <a:stretch>
            <a:fillRect/>
          </a:stretch>
        </p:blipFill>
        <p:spPr>
          <a:xfrm>
            <a:off x="8181340" y="1257300"/>
            <a:ext cx="2212975" cy="2268855"/>
          </a:xfrm>
          <a:prstGeom prst="rect">
            <a:avLst/>
          </a:prstGeom>
        </p:spPr>
      </p:pic>
      <p:pic>
        <p:nvPicPr>
          <p:cNvPr id="6" name="Picture 5" descr="download"/>
          <p:cNvPicPr>
            <a:picLocks noChangeAspect="1"/>
          </p:cNvPicPr>
          <p:nvPr/>
        </p:nvPicPr>
        <p:blipFill>
          <a:blip r:embed="rId3"/>
          <a:stretch>
            <a:fillRect/>
          </a:stretch>
        </p:blipFill>
        <p:spPr>
          <a:xfrm>
            <a:off x="4860290" y="1250315"/>
            <a:ext cx="2143125" cy="2294890"/>
          </a:xfrm>
          <a:prstGeom prst="rect">
            <a:avLst/>
          </a:prstGeom>
        </p:spPr>
      </p:pic>
      <p:pic>
        <p:nvPicPr>
          <p:cNvPr id="7" name="Picture 6" descr="images"/>
          <p:cNvPicPr>
            <a:picLocks noChangeAspect="1"/>
          </p:cNvPicPr>
          <p:nvPr/>
        </p:nvPicPr>
        <p:blipFill>
          <a:blip r:embed="rId4"/>
          <a:stretch>
            <a:fillRect/>
          </a:stretch>
        </p:blipFill>
        <p:spPr>
          <a:xfrm>
            <a:off x="1002030" y="1257300"/>
            <a:ext cx="2268220" cy="2268220"/>
          </a:xfrm>
          <a:prstGeom prst="rect">
            <a:avLst/>
          </a:prstGeom>
        </p:spPr>
      </p:pic>
      <p:sp>
        <p:nvSpPr>
          <p:cNvPr id="8" name="Text Box 7"/>
          <p:cNvSpPr txBox="1"/>
          <p:nvPr/>
        </p:nvSpPr>
        <p:spPr>
          <a:xfrm>
            <a:off x="676910" y="3740785"/>
            <a:ext cx="3376295" cy="1744345"/>
          </a:xfrm>
          <a:prstGeom prst="rect">
            <a:avLst/>
          </a:prstGeom>
          <a:noFill/>
        </p:spPr>
        <p:txBody>
          <a:bodyPr wrap="square" rtlCol="0">
            <a:noAutofit/>
          </a:bodyPr>
          <a:p>
            <a:r>
              <a:rPr lang="en-US" altLang="en-US" sz="1600" b="1">
                <a:latin typeface="Times New Roman" panose="02020603050405020304" charset="0"/>
                <a:cs typeface="Times New Roman" panose="02020603050405020304" charset="0"/>
              </a:rPr>
              <a:t>SDG 3: Good Health and Well-being</a:t>
            </a:r>
            <a:endParaRPr lang="en-US" altLang="en-US"/>
          </a:p>
          <a:p>
            <a:endParaRPr lang="en-US" altLang="en-US"/>
          </a:p>
          <a:p>
            <a:pPr algn="just"/>
            <a:r>
              <a:rPr lang="en-US" altLang="en-US" sz="1600">
                <a:latin typeface="Times New Roman" panose="02020603050405020304" charset="0"/>
                <a:cs typeface="Times New Roman" panose="02020603050405020304" charset="0"/>
              </a:rPr>
              <a:t>By providing an accessible tool for early detection, our project helps reduce premature deaths from non-communicable diseases (like heart disease).</a:t>
            </a:r>
            <a:endParaRPr lang="en-US" sz="1600">
              <a:latin typeface="Times New Roman" panose="02020603050405020304" charset="0"/>
              <a:cs typeface="Times New Roman" panose="02020603050405020304" charset="0"/>
            </a:endParaRPr>
          </a:p>
        </p:txBody>
      </p:sp>
      <p:sp>
        <p:nvSpPr>
          <p:cNvPr id="9" name="Text Box 8"/>
          <p:cNvSpPr txBox="1"/>
          <p:nvPr/>
        </p:nvSpPr>
        <p:spPr>
          <a:xfrm>
            <a:off x="8181340" y="3740150"/>
            <a:ext cx="3416935" cy="1744980"/>
          </a:xfrm>
          <a:prstGeom prst="rect">
            <a:avLst/>
          </a:prstGeom>
          <a:noFill/>
        </p:spPr>
        <p:txBody>
          <a:bodyPr wrap="square" rtlCol="0">
            <a:noAutofit/>
          </a:bodyPr>
          <a:p>
            <a:r>
              <a:rPr lang="en-US" altLang="en-US" sz="1600" b="1">
                <a:latin typeface="Times New Roman" panose="02020603050405020304" charset="0"/>
                <a:cs typeface="Times New Roman" panose="02020603050405020304" charset="0"/>
              </a:rPr>
              <a:t>SDG 10: Reduced Inequalities</a:t>
            </a:r>
            <a:endParaRPr lang="en-US" altLang="en-US" sz="1600" b="1">
              <a:latin typeface="Times New Roman" panose="02020603050405020304" charset="0"/>
              <a:cs typeface="Times New Roman" panose="02020603050405020304" charset="0"/>
            </a:endParaRPr>
          </a:p>
          <a:p>
            <a:endParaRPr lang="en-US" altLang="en-US" sz="1600" b="1">
              <a:latin typeface="Times New Roman" panose="02020603050405020304" charset="0"/>
              <a:cs typeface="Times New Roman" panose="02020603050405020304" charset="0"/>
            </a:endParaRPr>
          </a:p>
          <a:p>
            <a:pPr algn="just"/>
            <a:r>
              <a:rPr lang="en-US" altLang="en-US" sz="1600">
                <a:latin typeface="Times New Roman" panose="02020603050405020304" charset="0"/>
                <a:cs typeface="Times New Roman" panose="02020603050405020304" charset="0"/>
              </a:rPr>
              <a:t>The web-based tool can be used by anyone, anywhere, helping to bridge the healthcare gap for remote and underserved communities.</a:t>
            </a:r>
            <a:endParaRPr lang="en-US" sz="1600">
              <a:latin typeface="Times New Roman" panose="02020603050405020304" charset="0"/>
              <a:cs typeface="Times New Roman" panose="02020603050405020304" charset="0"/>
            </a:endParaRPr>
          </a:p>
        </p:txBody>
      </p:sp>
      <p:sp>
        <p:nvSpPr>
          <p:cNvPr id="10" name="Text Box 9"/>
          <p:cNvSpPr txBox="1"/>
          <p:nvPr/>
        </p:nvSpPr>
        <p:spPr>
          <a:xfrm>
            <a:off x="4340860" y="3740785"/>
            <a:ext cx="3552825" cy="1746885"/>
          </a:xfrm>
          <a:prstGeom prst="rect">
            <a:avLst/>
          </a:prstGeom>
          <a:noFill/>
        </p:spPr>
        <p:txBody>
          <a:bodyPr wrap="square" rtlCol="0">
            <a:noAutofit/>
          </a:bodyPr>
          <a:p>
            <a:r>
              <a:rPr lang="en-US" altLang="en-US" sz="1600" b="1">
                <a:latin typeface="Times New Roman" panose="02020603050405020304" charset="0"/>
                <a:cs typeface="Times New Roman" panose="02020603050405020304" charset="0"/>
              </a:rPr>
              <a:t>SDG 9: Innovation and Infrastructure</a:t>
            </a:r>
            <a:endParaRPr lang="en-US" altLang="en-US" sz="1600" b="1">
              <a:latin typeface="Times New Roman" panose="02020603050405020304" charset="0"/>
              <a:cs typeface="Times New Roman" panose="02020603050405020304" charset="0"/>
            </a:endParaRPr>
          </a:p>
          <a:p>
            <a:endParaRPr lang="en-US" altLang="en-US" sz="1600">
              <a:latin typeface="Times New Roman" panose="02020603050405020304" charset="0"/>
              <a:cs typeface="Times New Roman" panose="02020603050405020304" charset="0"/>
            </a:endParaRPr>
          </a:p>
          <a:p>
            <a:r>
              <a:rPr lang="en-US" altLang="en-US" sz="1600">
                <a:latin typeface="Times New Roman" panose="02020603050405020304" charset="0"/>
                <a:cs typeface="Times New Roman" panose="02020603050405020304" charset="0"/>
              </a:rPr>
              <a:t>We apply an innovative technology (Deep Learning) to solve a major public health problem.</a:t>
            </a:r>
            <a:endParaRPr lang="en-US" sz="1600">
              <a:latin typeface="Times New Roman" panose="02020603050405020304" charset="0"/>
              <a:cs typeface="Times New Roman" panose="02020603050405020304" charset="0"/>
            </a:endParaRPr>
          </a:p>
        </p:txBody>
      </p:sp>
    </p:spTree>
  </p:cSld>
  <p:clrMapOvr>
    <a:masterClrMapping/>
  </p:clrMapOvr>
</p:sld>
</file>

<file path=ppt/tags/tag1.xml><?xml version="1.0" encoding="utf-8"?>
<p:tagLst xmlns:p="http://schemas.openxmlformats.org/presentationml/2006/main">
  <p:tag name="TABLE_ENDDRAG_ORIGIN_RECT" val="828*322"/>
  <p:tag name="TABLE_ENDDRAG_RECT" val="66*143*828*322"/>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3095</Words>
  <Application>WPS Presentation</Application>
  <PresentationFormat>Widescreen</PresentationFormat>
  <Paragraphs>82</Paragraphs>
  <Slides>8</Slides>
  <Notes>0</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8</vt:i4>
      </vt:variant>
    </vt:vector>
  </HeadingPairs>
  <TitlesOfParts>
    <vt:vector size="20" baseType="lpstr">
      <vt:lpstr>Arial</vt:lpstr>
      <vt:lpstr>SimSun</vt:lpstr>
      <vt:lpstr>Wingdings</vt:lpstr>
      <vt:lpstr>Times New Roman</vt:lpstr>
      <vt:lpstr>Calibri</vt:lpstr>
      <vt:lpstr>Arial</vt:lpstr>
      <vt:lpstr>Times New Roman</vt:lpstr>
      <vt:lpstr>Calibri Light</vt:lpstr>
      <vt:lpstr>Microsoft YaHei</vt:lpstr>
      <vt:lpstr>Arial Unicode MS</vt:lpstr>
      <vt:lpstr>Calibri</vt:lpstr>
      <vt:lpstr>Office Theme</vt:lpstr>
      <vt:lpstr>PowerPoint 演示文稿</vt:lpstr>
      <vt:lpstr>PowerPoint 演示文稿</vt:lpstr>
      <vt:lpstr>SYSTEM DESIGN</vt:lpstr>
      <vt:lpstr>IMPLEMENTATION</vt:lpstr>
      <vt:lpstr>RESULT WITH ANALYSIS</vt:lpstr>
      <vt:lpstr>PowerPoint 演示文稿</vt:lpstr>
      <vt:lpstr>APPLICATIONS</vt:lpstr>
      <vt:lpstr>SDG IMPACT </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
  <cp:lastModifiedBy>Aditya Patel</cp:lastModifiedBy>
  <cp:revision>5</cp:revision>
  <dcterms:created xsi:type="dcterms:W3CDTF">2025-07-23T00:59:00Z</dcterms:created>
  <dcterms:modified xsi:type="dcterms:W3CDTF">2025-12-05T16:31:45Z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9796ED06C91247558EC7DCA80C1C1974_13</vt:lpwstr>
  </property>
  <property fmtid="{D5CDD505-2E9C-101B-9397-08002B2CF9AE}" pid="3" name="KSOProductBuildVer">
    <vt:lpwstr>1033-12.2.0.23155</vt:lpwstr>
  </property>
</Properties>
</file>